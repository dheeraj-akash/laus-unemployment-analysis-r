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7" r:id="rId10"/>
    <p:sldId id="268" r:id="rId11"/>
    <p:sldId id="269" r:id="rId12"/>
    <p:sldId id="270" r:id="rId13"/>
    <p:sldId id="27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16" autoAdjust="0"/>
    <p:restoredTop sz="94660"/>
  </p:normalViewPr>
  <p:slideViewPr>
    <p:cSldViewPr snapToGrid="0">
      <p:cViewPr varScale="1">
        <p:scale>
          <a:sx n="79" d="100"/>
          <a:sy n="79" d="100"/>
        </p:scale>
        <p:origin x="1066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8EB54-7E97-8D5F-1694-49E9603B32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998704-A918-750D-0E66-A4144E3DE3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219A4-0CCB-262F-152D-6DD60A09C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8FC60-2365-4444-BFFC-5494F6CF2FFF}" type="datetimeFigureOut">
              <a:rPr lang="en-IN" smtClean="0"/>
              <a:t>06-12-2023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A0711-F3D5-3779-1394-6C7CDEEF2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B8F07-7CFE-F359-91DF-B2E40AC3C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B7562-4144-4774-824B-08E01E261D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948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D7B93-3C81-FF07-D2D9-D1BB9F444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E531A-C0EE-1E3D-1948-02E0B85E9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F6F6E-C200-5212-8B30-A285DC3DB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8FC60-2365-4444-BFFC-5494F6CF2FFF}" type="datetimeFigureOut">
              <a:rPr lang="en-IN" smtClean="0"/>
              <a:t>06-12-2023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DC281-7B2C-2EE7-A14A-FD07FB3DE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3636AB-BFA2-06F2-9B67-76AE9B8BA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B7562-4144-4774-824B-08E01E261D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2605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F115B-F405-CED2-3138-FF65959E8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00D8E2-271D-3817-D4B8-13E97FED30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ED4DBB-1EFA-B0D9-EF8D-134726733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8FC60-2365-4444-BFFC-5494F6CF2FFF}" type="datetimeFigureOut">
              <a:rPr lang="en-IN" smtClean="0"/>
              <a:t>06-12-2023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5B3D9A-BE0E-2938-5302-20AB3BD02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465D4-DA83-2731-F8B0-EE5CCD9A2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B7562-4144-4774-824B-08E01E261D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999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7AAD9-8AD1-96CB-C342-FF70D31AA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AE3FB-DCAA-51B6-00C4-AE3A43DDA5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F4D07F-24D4-9AE8-7249-0289165C80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82FE43-F50D-6A6D-A259-A7A65C2F5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8FC60-2365-4444-BFFC-5494F6CF2FFF}" type="datetimeFigureOut">
              <a:rPr lang="en-IN" smtClean="0"/>
              <a:t>06-12-2023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2D838B-DA95-2735-06C3-7AFBF2C68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2CB263-5A99-FBAD-535F-2978EA99B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B7562-4144-4774-824B-08E01E261D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3187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224EA-6D7A-A042-D325-BF8991B99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8723B3-A146-21CF-A66F-2770107F7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51EB35-B426-A2FF-13D7-8EFF40FF40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AE5E89-B4F2-D84A-289C-CA8E2A974D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491D8A-FA1F-3D50-3250-57B65CA28A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70D348-1578-C2E5-02D7-622078CB6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8FC60-2365-4444-BFFC-5494F6CF2FFF}" type="datetimeFigureOut">
              <a:rPr lang="en-IN" smtClean="0"/>
              <a:t>06-12-2023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1F969E-0665-CAED-AF24-0F35AA039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86F8D8-D560-2584-25D9-4B498F1F3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B7562-4144-4774-824B-08E01E261D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3540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B49DB-E787-C12D-64E7-7E3F57E39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347912-9132-A8B9-8605-568E0FC2F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8FC60-2365-4444-BFFC-5494F6CF2FFF}" type="datetimeFigureOut">
              <a:rPr lang="en-IN" smtClean="0"/>
              <a:t>06-12-2023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5316E-857E-8E1F-F025-001BE2DF1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33C1F8-2180-FCF6-991C-5885418DD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B7562-4144-4774-824B-08E01E261D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2320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942ABE-3C39-0740-CB0E-4B8B5BB1D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8FC60-2365-4444-BFFC-5494F6CF2FFF}" type="datetimeFigureOut">
              <a:rPr lang="en-IN" smtClean="0"/>
              <a:t>06-12-2023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B8BEF6-9353-AD30-1F0E-6BF81F0BC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A4409F-7F90-F9D5-5248-78A4838FF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B7562-4144-4774-824B-08E01E261D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7182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749D4-B86D-B0E6-0B82-E379441B8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15380-176A-E62F-B9F9-67FC3C950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110AF0-C8E8-E129-57CC-00EE39A02C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BBBFE1-3CFE-FEAC-1170-ECA14E838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8FC60-2365-4444-BFFC-5494F6CF2FFF}" type="datetimeFigureOut">
              <a:rPr lang="en-IN" smtClean="0"/>
              <a:t>06-12-2023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63F78B-AEF9-6C71-36CD-C56336671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E309F0-0D56-3224-68D2-4097A2517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B7562-4144-4774-824B-08E01E261D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5229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0245D-2A50-A9FF-42F9-C585519F0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EFC211-989C-1059-3567-FF107A2FB2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D8EE69-1A73-1C08-CD1E-47F59AE156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43C5C3-F330-0686-12D4-ACADD1442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8FC60-2365-4444-BFFC-5494F6CF2FFF}" type="datetimeFigureOut">
              <a:rPr lang="en-IN" smtClean="0"/>
              <a:t>06-12-2023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02EB77-11AD-C377-ED14-A5B2ED67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48242C-E043-839F-5AE8-B9D15019A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B7562-4144-4774-824B-08E01E261D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2425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18BFB-3C75-B24B-3415-A4C4CB969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C34B9D-2F06-2302-65E5-39B8D880BD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29AE86-73DB-98FF-290A-D8253CCD5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8FC60-2365-4444-BFFC-5494F6CF2FFF}" type="datetimeFigureOut">
              <a:rPr lang="en-IN" smtClean="0"/>
              <a:t>06-12-2023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67E4E-2A00-F324-A95C-E277CB40C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8A9D5-AACC-3EC2-CBCC-906FA1384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B7562-4144-4774-824B-08E01E261D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2887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3D8700-D901-4739-17C9-F7F308193E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2DE355-6DEB-DFB6-0886-3BB96B50F5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346F43-7FA0-B3C6-BB8C-199E577A9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8FC60-2365-4444-BFFC-5494F6CF2FFF}" type="datetimeFigureOut">
              <a:rPr lang="en-IN" smtClean="0"/>
              <a:t>06-12-2023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066597-F1CA-959A-AF31-B95AF0DB7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D848C-D3A1-6541-1A40-198F157AA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B7562-4144-4774-824B-08E01E261D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797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349E24-19D5-E21B-BDF9-A3358FA92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6F5742-7178-C382-496B-82DE7F0C8B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70CC7-75F9-4B0B-BE9F-9FF6F236DD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18FC60-2365-4444-BFFC-5494F6CF2FFF}" type="datetimeFigureOut">
              <a:rPr lang="en-IN" smtClean="0"/>
              <a:t>06-12-2023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F54AC-6EBC-8F42-BCF4-94238CEB5F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51BA2-7EA4-4984-A130-614946FE7A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1B7562-4144-4774-824B-08E01E261D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2885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59519-BD11-9D19-A75A-5D3E1B4A4C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IN" sz="5000" dirty="0"/>
            </a:br>
            <a:br>
              <a:rPr lang="en-IN" sz="5000" dirty="0"/>
            </a:br>
            <a:br>
              <a:rPr lang="en-IN" sz="5000" dirty="0"/>
            </a:br>
            <a:r>
              <a:rPr lang="en-IN" sz="3300" dirty="0"/>
              <a:t>STAT515 - FINAL PROJECT on</a:t>
            </a:r>
            <a:br>
              <a:rPr lang="en-IN" sz="3300" dirty="0"/>
            </a:br>
            <a:r>
              <a:rPr lang="en-US" sz="3300" dirty="0"/>
              <a:t>Local Area Unemployment Statistics (LAUS)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69B29B-9F52-0576-3ECC-2BF7B51086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n-IN" sz="2700" dirty="0"/>
              <a:t>Group 5</a:t>
            </a:r>
          </a:p>
          <a:p>
            <a:pPr algn="just"/>
            <a:r>
              <a:rPr lang="en-IN" dirty="0"/>
              <a:t>Shashank </a:t>
            </a:r>
            <a:r>
              <a:rPr lang="en-IN" dirty="0" err="1"/>
              <a:t>Valugunuri</a:t>
            </a:r>
            <a:r>
              <a:rPr lang="en-IN" dirty="0"/>
              <a:t> – G01448682</a:t>
            </a:r>
          </a:p>
          <a:p>
            <a:pPr algn="just"/>
            <a:r>
              <a:rPr lang="en-IN" dirty="0"/>
              <a:t>Dheeraj Akash Dokuparthy – G01446992</a:t>
            </a:r>
          </a:p>
          <a:p>
            <a:pPr algn="just"/>
            <a:r>
              <a:rPr lang="en-IN" dirty="0"/>
              <a:t>Rahul Reddy </a:t>
            </a:r>
            <a:r>
              <a:rPr lang="en-IN" dirty="0" err="1"/>
              <a:t>Paduri</a:t>
            </a:r>
            <a:r>
              <a:rPr lang="en-IN" dirty="0"/>
              <a:t> – G01449882</a:t>
            </a:r>
          </a:p>
        </p:txBody>
      </p:sp>
    </p:spTree>
    <p:extLst>
      <p:ext uri="{BB962C8B-B14F-4D97-AF65-F5344CB8AC3E}">
        <p14:creationId xmlns:p14="http://schemas.microsoft.com/office/powerpoint/2010/main" val="4133821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D99EA-B98B-3BCF-9271-348DA4EC2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Söhne"/>
              </a:rPr>
              <a:t>Introduction</a:t>
            </a:r>
            <a:br>
              <a:rPr lang="en-IN" b="1" i="0" dirty="0">
                <a:effectLst/>
                <a:latin typeface="Söhne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43FD3-C4BA-4C8D-B9DC-23F0A726A0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770"/>
            <a:ext cx="10515600" cy="4833193"/>
          </a:xfrm>
        </p:spPr>
        <p:txBody>
          <a:bodyPr/>
          <a:lstStyle/>
          <a:p>
            <a:r>
              <a:rPr lang="en-US" dirty="0"/>
              <a:t>The Local Area Unemployment Statistics (LAUS) program is a collaboration between the federal government and states. Its goal is to provide monthly estimates of employment and unemployment for around 7,300 areas in </a:t>
            </a:r>
            <a:r>
              <a:rPr lang="en-US" dirty="0" err="1"/>
              <a:t>california</a:t>
            </a:r>
            <a:r>
              <a:rPr lang="en-US" dirty="0"/>
              <a:t>, such as counties, cities, and metropolitan statistical areas. These estimates help us understand the local economic conditions.</a:t>
            </a:r>
          </a:p>
          <a:p>
            <a:r>
              <a:rPr lang="en-US" dirty="0"/>
              <a:t>Dataset Columns: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766766-898F-2FA4-08E3-3A40FA242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895" y="4307297"/>
            <a:ext cx="6692296" cy="1687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311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EE3EB-FAB4-611D-63E1-160EAB971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Söhne"/>
              </a:rPr>
              <a:t>Data Analysis - Linear Regression</a:t>
            </a:r>
            <a:br>
              <a:rPr lang="en-IN" b="1" i="0" dirty="0">
                <a:effectLst/>
                <a:latin typeface="Söhne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4FA1E-3412-EB3B-BA6D-36F0884E3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769" y="1253331"/>
            <a:ext cx="10515600" cy="4351338"/>
          </a:xfrm>
        </p:spPr>
        <p:txBody>
          <a:bodyPr/>
          <a:lstStyle/>
          <a:p>
            <a:r>
              <a:rPr lang="en-US" dirty="0"/>
              <a:t>" Average Unemployment by Year“</a:t>
            </a:r>
          </a:p>
          <a:p>
            <a:r>
              <a:rPr lang="en-US" dirty="0"/>
              <a:t>Plot: 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Predicted data: 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894A68-6E2D-74F2-9481-73B2A0759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961" y="1804610"/>
            <a:ext cx="3468915" cy="25448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F22C0FE-530A-E350-714F-4E29DD2E36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9365" y="4937238"/>
            <a:ext cx="2858105" cy="1562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462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5D469-A395-0D2C-BA91-ADF10E6EB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Söhne"/>
              </a:rPr>
              <a:t>Time Series Analysis</a:t>
            </a:r>
            <a:br>
              <a:rPr lang="en-IN" b="1" i="0" dirty="0">
                <a:effectLst/>
                <a:latin typeface="Söhne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462F7-07DB-3A9D-40AD-F65EE40B3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740" y="1164238"/>
            <a:ext cx="10515600" cy="4351338"/>
          </a:xfrm>
        </p:spPr>
        <p:txBody>
          <a:bodyPr>
            <a:normAutofit fontScale="92500"/>
          </a:bodyPr>
          <a:lstStyle/>
          <a:p>
            <a:r>
              <a:rPr lang="en-IN" dirty="0"/>
              <a:t>Unemployment Rate Over Time</a:t>
            </a:r>
          </a:p>
          <a:p>
            <a:r>
              <a:rPr lang="en-IN" dirty="0"/>
              <a:t>Plot: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Interpretation : </a:t>
            </a:r>
            <a:r>
              <a:rPr lang="en-US" dirty="0"/>
              <a:t>Time series plot with different area types distinguished. For example in 2010 , The unemployment rate is highest in sub county place.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678934-7A8F-7E59-811D-B929A4B00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553" y="1756429"/>
            <a:ext cx="3830918" cy="2235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150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6A94D-7CBA-970F-5FE8-5008116CD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1703"/>
            <a:ext cx="10515600" cy="1325563"/>
          </a:xfrm>
        </p:spPr>
        <p:txBody>
          <a:bodyPr/>
          <a:lstStyle/>
          <a:p>
            <a:r>
              <a:rPr lang="en-IN" b="1" i="0" dirty="0">
                <a:effectLst/>
                <a:latin typeface="Söhne"/>
              </a:rPr>
              <a:t>Stacked Area Charts</a:t>
            </a:r>
            <a:br>
              <a:rPr lang="en-IN" b="1" i="0" dirty="0">
                <a:effectLst/>
                <a:latin typeface="Söhne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26AEB-1D8F-6243-5137-4CAF9DAC5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301" y="1119851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Components of Labor Force Over Time</a:t>
            </a:r>
          </a:p>
          <a:p>
            <a:r>
              <a:rPr lang="en-US" dirty="0"/>
              <a:t>Stacked area chart for employment:</a:t>
            </a:r>
          </a:p>
          <a:p>
            <a:r>
              <a:rPr lang="en-US" dirty="0"/>
              <a:t>Plot: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Interpretation:  Over Time, Employment rate is increasing.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966A32-DB33-2CF6-74BF-01004DDEE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5171" y="1983625"/>
            <a:ext cx="4177315" cy="2954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615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1CB81-2607-46CD-4097-4CEB85573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075"/>
            <a:ext cx="10515600" cy="6025888"/>
          </a:xfrm>
        </p:spPr>
        <p:txBody>
          <a:bodyPr/>
          <a:lstStyle/>
          <a:p>
            <a:r>
              <a:rPr lang="en-US" dirty="0"/>
              <a:t>Stacked area chart for unemployment:</a:t>
            </a:r>
          </a:p>
          <a:p>
            <a:r>
              <a:rPr lang="en-IN" dirty="0"/>
              <a:t>Plot: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Interpretation: Over Time, Unemployment rate is showing different fluctuations.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CDECF7C-8C19-1D1D-A0E3-DC8F1746A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4485" y="1149411"/>
            <a:ext cx="5690795" cy="3164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834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0DBAB-2933-272A-611F-1EE19ECA3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Söhne"/>
              </a:rPr>
              <a:t>Bubble Plot</a:t>
            </a:r>
            <a:br>
              <a:rPr lang="en-IN" b="1" i="0" dirty="0">
                <a:effectLst/>
                <a:latin typeface="Söhne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ED099-4C43-70C7-A956-0AB02C38E8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912" y="1253331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Labor Force vs. Unemployment Rate</a:t>
            </a:r>
          </a:p>
          <a:p>
            <a:r>
              <a:rPr lang="en-US" dirty="0"/>
              <a:t>Plot: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Interpretation: State Area type has less unemployment rate and subcounty has more.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1AAA66-A8E8-20A4-B754-8BBD5A684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999" y="1866139"/>
            <a:ext cx="3464077" cy="2478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734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F3655-4F88-28BB-3866-4954C3A31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Söhne"/>
              </a:rPr>
              <a:t>Bar Chart</a:t>
            </a:r>
            <a:br>
              <a:rPr lang="en-IN" b="1" i="0" dirty="0">
                <a:effectLst/>
                <a:latin typeface="Söhne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9BB0F-D52B-286A-C524-23D37D869E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503" y="1150923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Total Labor Force by Area Type</a:t>
            </a:r>
          </a:p>
          <a:p>
            <a:r>
              <a:rPr lang="en-US" dirty="0"/>
              <a:t>Plot: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Interpretation:  State area type has more Labor force and Metro Division has the lowest</a:t>
            </a:r>
          </a:p>
        </p:txBody>
      </p:sp>
      <p:pic>
        <p:nvPicPr>
          <p:cNvPr id="5" name="Picture 4" descr="A graph of purple squares&#10;&#10;Description automatically generated">
            <a:extLst>
              <a:ext uri="{FF2B5EF4-FFF2-40B4-BE49-F238E27FC236}">
                <a16:creationId xmlns:a16="http://schemas.microsoft.com/office/drawing/2014/main" id="{AE8F7C5F-EAD1-8F86-8E1A-DD546EC2A5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6444" y="1728430"/>
            <a:ext cx="6345005" cy="2814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08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E8F76-B5B7-E62B-D21A-9C542D420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Söhne"/>
              </a:rPr>
              <a:t>Statistical Tests - t-test</a:t>
            </a:r>
            <a:br>
              <a:rPr lang="en-IN" b="1" i="0" dirty="0">
                <a:effectLst/>
                <a:latin typeface="Söhne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804CB-6BDE-1FC7-02E4-B79526ED0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452" y="1137606"/>
            <a:ext cx="10515600" cy="4351338"/>
          </a:xfrm>
        </p:spPr>
        <p:txBody>
          <a:bodyPr/>
          <a:lstStyle/>
          <a:p>
            <a:r>
              <a:rPr lang="en-US" dirty="0"/>
              <a:t>Comparison of Unemployment Rates (t-test)</a:t>
            </a:r>
          </a:p>
          <a:p>
            <a:r>
              <a:rPr lang="en-US" dirty="0"/>
              <a:t>Result: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  <p:pic>
        <p:nvPicPr>
          <p:cNvPr id="5" name="Picture 4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3023ECE7-4576-A54A-6033-EDDDF6D62B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1647" y="1690688"/>
            <a:ext cx="7187979" cy="2168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53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5544C-C483-03C7-1E25-0D7373AD9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Söhne"/>
              </a:rPr>
              <a:t>ANOVA</a:t>
            </a:r>
            <a:br>
              <a:rPr lang="en-IN" b="1" i="0" dirty="0">
                <a:effectLst/>
                <a:latin typeface="Söhne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87520-1988-4409-AD94-087493217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719" y="1161584"/>
            <a:ext cx="10515600" cy="4351338"/>
          </a:xfrm>
        </p:spPr>
        <p:txBody>
          <a:bodyPr/>
          <a:lstStyle/>
          <a:p>
            <a:r>
              <a:rPr lang="en-US" dirty="0"/>
              <a:t>Yearly Variation in Unemployment Rates (ANOVA)</a:t>
            </a:r>
          </a:p>
          <a:p>
            <a:endParaRPr lang="en-US" dirty="0"/>
          </a:p>
          <a:p>
            <a:r>
              <a:rPr lang="en-US" dirty="0"/>
              <a:t>Result:</a:t>
            </a:r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5D32817D-F79D-B22B-ED71-B27C83A64C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6468" y="2421241"/>
            <a:ext cx="8476009" cy="1900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2871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F27AA-A8DF-3FFD-91A3-B73EA04B1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Söhne"/>
              </a:rPr>
              <a:t>Chi-square Tests</a:t>
            </a:r>
            <a:br>
              <a:rPr lang="en-IN" b="1" i="0" dirty="0">
                <a:effectLst/>
                <a:latin typeface="Söhne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6EC03-E520-B26B-8B8B-A275D883A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2790" y="1124289"/>
            <a:ext cx="10515600" cy="4351338"/>
          </a:xfrm>
        </p:spPr>
        <p:txBody>
          <a:bodyPr/>
          <a:lstStyle/>
          <a:p>
            <a:r>
              <a:rPr lang="en-IN" dirty="0"/>
              <a:t>Association Between Categorical Variables</a:t>
            </a:r>
          </a:p>
          <a:p>
            <a:r>
              <a:rPr lang="en-IN" dirty="0"/>
              <a:t>Example 1: Test b/w Area and Status</a:t>
            </a:r>
          </a:p>
          <a:p>
            <a:r>
              <a:rPr lang="en-IN" dirty="0"/>
              <a:t>Result: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 </a:t>
            </a:r>
          </a:p>
        </p:txBody>
      </p:sp>
      <p:pic>
        <p:nvPicPr>
          <p:cNvPr id="5" name="Picture 4" descr="A close-up of a computer code&#10;&#10;Description automatically generated">
            <a:extLst>
              <a:ext uri="{FF2B5EF4-FFF2-40B4-BE49-F238E27FC236}">
                <a16:creationId xmlns:a16="http://schemas.microsoft.com/office/drawing/2014/main" id="{2E632390-5670-1741-A682-DF6245BEFD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7550" y="2248019"/>
            <a:ext cx="5573864" cy="1685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173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8F302-714E-90D5-71D9-D7A5096690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9614"/>
            <a:ext cx="10515600" cy="5787349"/>
          </a:xfrm>
        </p:spPr>
        <p:txBody>
          <a:bodyPr/>
          <a:lstStyle/>
          <a:p>
            <a:r>
              <a:rPr lang="en-US" dirty="0"/>
              <a:t>Example 2: </a:t>
            </a:r>
            <a:r>
              <a:rPr lang="en-IN" dirty="0"/>
              <a:t>Test b/w Seasonally and Status</a:t>
            </a:r>
          </a:p>
          <a:p>
            <a:r>
              <a:rPr lang="en-IN" dirty="0"/>
              <a:t>Result: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 descr="A computer code with black text&#10;&#10;Description automatically generated">
            <a:extLst>
              <a:ext uri="{FF2B5EF4-FFF2-40B4-BE49-F238E27FC236}">
                <a16:creationId xmlns:a16="http://schemas.microsoft.com/office/drawing/2014/main" id="{8FE74683-F246-7132-1568-342A3C4898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1210" y="1680386"/>
            <a:ext cx="7000741" cy="1881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40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3911A-75D6-B5D6-3C0D-9BFCC3CD4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Söhne"/>
              </a:rPr>
              <a:t>Conclusion</a:t>
            </a:r>
            <a:br>
              <a:rPr lang="en-IN" b="1" i="0" dirty="0">
                <a:effectLst/>
                <a:latin typeface="Söhne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43B32-07D5-3F5E-67A3-91658BE87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8788"/>
            <a:ext cx="10515600" cy="521817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Analysis of California's labor market unveils diverse trends. Varied regional fluctuations and nuanced relationships between labor force and unemployment rates highlight the state's economic complexity.</a:t>
            </a:r>
          </a:p>
          <a:p>
            <a:endParaRPr lang="en-US" dirty="0"/>
          </a:p>
          <a:p>
            <a:r>
              <a:rPr lang="en-US" dirty="0"/>
              <a:t>LAUS program is a way for the government to figure out how many people are working and unemployed in different areas, helping us understand the economic health of those places.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8145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368</Words>
  <Application>Microsoft Office PowerPoint</Application>
  <PresentationFormat>Widescreen</PresentationFormat>
  <Paragraphs>94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Söhne</vt:lpstr>
      <vt:lpstr>Office Theme</vt:lpstr>
      <vt:lpstr>   STAT515 - FINAL PROJECT on Local Area Unemployment Statistics (LAUS)  </vt:lpstr>
      <vt:lpstr>Introduction </vt:lpstr>
      <vt:lpstr>Data Analysis - Linear Regression </vt:lpstr>
      <vt:lpstr>Time Series Analysis </vt:lpstr>
      <vt:lpstr>Stacked Area Charts </vt:lpstr>
      <vt:lpstr>PowerPoint Presentation</vt:lpstr>
      <vt:lpstr>Bubble Plot </vt:lpstr>
      <vt:lpstr>Bar Chart </vt:lpstr>
      <vt:lpstr>Statistical Tests - t-test </vt:lpstr>
      <vt:lpstr>ANOVA </vt:lpstr>
      <vt:lpstr>Chi-square Tests </vt:lpstr>
      <vt:lpstr>PowerPoint Presentation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STAT515 - FINAL PROJECT on Local Area Unemployment Statistics (LAUS)  </dc:title>
  <dc:creator>dheerajakash dokuparthy</dc:creator>
  <cp:lastModifiedBy>dheerajakash dokuparthy</cp:lastModifiedBy>
  <cp:revision>13</cp:revision>
  <dcterms:created xsi:type="dcterms:W3CDTF">2023-12-06T18:11:39Z</dcterms:created>
  <dcterms:modified xsi:type="dcterms:W3CDTF">2023-12-06T22:24:08Z</dcterms:modified>
</cp:coreProperties>
</file>